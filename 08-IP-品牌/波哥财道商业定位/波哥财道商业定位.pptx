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6" r:id="rId5"/>
    <p:sldId id="267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8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82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波哥财道品牌</a:t>
            </a:r>
            <a:r>
              <a:rPr lang="zh-CN" altLang="zh-CN"/>
              <a:t>介绍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等腰三角形 3"/>
          <p:cNvSpPr/>
          <p:nvPr/>
        </p:nvSpPr>
        <p:spPr>
          <a:xfrm>
            <a:off x="3451225" y="-24130"/>
            <a:ext cx="5293360" cy="5241925"/>
          </a:xfrm>
          <a:prstGeom prst="triangl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等腰三角形 4"/>
          <p:cNvSpPr/>
          <p:nvPr/>
        </p:nvSpPr>
        <p:spPr>
          <a:xfrm>
            <a:off x="5125720" y="-147955"/>
            <a:ext cx="1925955" cy="174117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梯形 5"/>
          <p:cNvSpPr/>
          <p:nvPr/>
        </p:nvSpPr>
        <p:spPr>
          <a:xfrm>
            <a:off x="4363720" y="1593215"/>
            <a:ext cx="3453130" cy="1779270"/>
          </a:xfrm>
          <a:prstGeom prst="trapezoid">
            <a:avLst>
              <a:gd name="adj" fmla="val 51748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梯形 6"/>
          <p:cNvSpPr/>
          <p:nvPr/>
        </p:nvSpPr>
        <p:spPr>
          <a:xfrm>
            <a:off x="3368675" y="3375660"/>
            <a:ext cx="5457825" cy="1815465"/>
          </a:xfrm>
          <a:prstGeom prst="trapezoid">
            <a:avLst>
              <a:gd name="adj" fmla="val 55159"/>
            </a:avLst>
          </a:prstGeom>
          <a:gradFill>
            <a:gsLst>
              <a:gs pos="0">
                <a:schemeClr val="bg1"/>
              </a:gs>
              <a:gs pos="42000">
                <a:srgbClr val="6ACCF2"/>
              </a:gs>
              <a:gs pos="100000">
                <a:srgbClr val="2497EA"/>
              </a:gs>
            </a:gsLst>
            <a:lin ang="81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125720" y="720090"/>
            <a:ext cx="1887855" cy="86995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16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波哥财道</a:t>
            </a:r>
            <a:endParaRPr lang="zh-CN" altLang="en-US" sz="16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algn="ctr"/>
            <a:r>
              <a:rPr lang="zh-CN" altLang="en-US" sz="16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攻守有道</a:t>
            </a:r>
            <a:endParaRPr lang="zh-CN" altLang="en-US" sz="16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3" name="矩形 12" descr="7b0a2020202022776f7264617274223a2022220a7d0a"/>
          <p:cNvSpPr/>
          <p:nvPr/>
        </p:nvSpPr>
        <p:spPr>
          <a:xfrm>
            <a:off x="3237865" y="997585"/>
            <a:ext cx="1887855" cy="45847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b="1">
                <a:ln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charset="0"/>
                <a:ea typeface="汉仪力量黑简" charset="0"/>
              </a:rPr>
              <a:t>品牌哲学</a:t>
            </a:r>
            <a:endParaRPr lang="zh-CN" altLang="en-US" b="1">
              <a:ln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charset="0"/>
              <a:ea typeface="汉仪力量黑简" charset="0"/>
            </a:endParaRPr>
          </a:p>
        </p:txBody>
      </p:sp>
      <p:sp>
        <p:nvSpPr>
          <p:cNvPr id="15" name="矩形 14" descr="7b0a2020202022776f7264617274223a2022220a7d0a"/>
          <p:cNvSpPr/>
          <p:nvPr/>
        </p:nvSpPr>
        <p:spPr>
          <a:xfrm>
            <a:off x="5349240" y="2003425"/>
            <a:ext cx="2042160" cy="1345565"/>
          </a:xfrm>
          <a:prstGeom prst="rect">
            <a:avLst/>
          </a:prstGeom>
          <a:noFill/>
          <a:ln>
            <a:noFill/>
          </a:ln>
        </p:spPr>
        <p:txBody>
          <a:bodyPr vert="eaVert" wrap="none" lIns="90170" tIns="46990" rIns="90170" bIns="46990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endParaRPr lang="zh-CN" altLang="en-US" sz="2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ctr"/>
            <a:r>
              <a:rPr lang="zh-CN" altLang="en-US" sz="2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优化负债</a:t>
            </a:r>
            <a:endParaRPr lang="zh-CN" altLang="en-US" sz="2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ctr"/>
            <a:r>
              <a:rPr lang="zh-CN" altLang="en-US" sz="2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做减法</a:t>
            </a:r>
            <a:endParaRPr lang="zh-CN" altLang="en-US" sz="2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ctr"/>
            <a:endParaRPr lang="zh-CN" altLang="en-US" sz="20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ctr"/>
            <a:endParaRPr lang="zh-CN" altLang="en-US" sz="2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ctr"/>
            <a:endParaRPr lang="zh-CN" altLang="en-US" sz="2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ctr"/>
            <a:r>
              <a:rPr lang="zh-CN" altLang="en-US" sz="2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买对资产</a:t>
            </a:r>
            <a:endParaRPr lang="zh-CN" altLang="en-US" sz="2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ctr"/>
            <a:r>
              <a:rPr lang="zh-CN" altLang="en-US" sz="2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做加法</a:t>
            </a:r>
            <a:endParaRPr lang="zh-CN" altLang="en-US" sz="2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ctr"/>
            <a:endParaRPr lang="zh-CN" altLang="en-US" sz="2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ctr"/>
            <a:endParaRPr lang="zh-CN" altLang="en-US" sz="11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7" name="矩形 16" descr="7b0a2020202022776f7264617274223a2022220a7d0a"/>
          <p:cNvSpPr/>
          <p:nvPr/>
        </p:nvSpPr>
        <p:spPr>
          <a:xfrm>
            <a:off x="2596515" y="2638425"/>
            <a:ext cx="1887855" cy="4197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zh-CN" altLang="en-US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charset="0"/>
                <a:ea typeface="汉仪力量黑简" charset="0"/>
                <a:sym typeface="+mn-ea"/>
              </a:rPr>
              <a:t>核心方法论</a:t>
            </a:r>
            <a:endParaRPr lang="zh-CN" altLang="en-US" b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charset="0"/>
              <a:ea typeface="汉仪力量黑简" charset="0"/>
              <a:sym typeface="+mn-ea"/>
            </a:endParaRPr>
          </a:p>
        </p:txBody>
      </p:sp>
      <p:sp>
        <p:nvSpPr>
          <p:cNvPr id="18" name="矩形 17" descr="7b0a2020202022776f7264617274223a2022220a7d0a"/>
          <p:cNvSpPr/>
          <p:nvPr/>
        </p:nvSpPr>
        <p:spPr>
          <a:xfrm>
            <a:off x="1782445" y="4240530"/>
            <a:ext cx="1887855" cy="4197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zh-CN" altLang="en-US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charset="0"/>
                <a:ea typeface="汉仪力量黑简" charset="0"/>
                <a:sym typeface="+mn-ea"/>
              </a:rPr>
              <a:t> </a:t>
            </a:r>
            <a:r>
              <a:rPr lang="zh-CN" altLang="en-US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charset="0"/>
                <a:ea typeface="汉仪力量黑简" charset="0"/>
                <a:sym typeface="+mn-ea"/>
              </a:rPr>
              <a:t>核</a:t>
            </a:r>
            <a:r>
              <a:rPr lang="zh-CN" altLang="en-US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charset="0"/>
                <a:ea typeface="汉仪力量黑简" charset="0"/>
                <a:sym typeface="+mn-ea"/>
              </a:rPr>
              <a:t>心武器库</a:t>
            </a:r>
            <a:endParaRPr lang="zh-CN" altLang="en-US" b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charset="0"/>
              <a:ea typeface="汉仪力量黑简" charset="0"/>
              <a:sym typeface="+mn-ea"/>
            </a:endParaRPr>
          </a:p>
        </p:txBody>
      </p:sp>
      <p:sp>
        <p:nvSpPr>
          <p:cNvPr id="19" name="矩形 18" descr="7b0a2020202022776f7264617274223a2022220a7d0a"/>
          <p:cNvSpPr/>
          <p:nvPr/>
        </p:nvSpPr>
        <p:spPr>
          <a:xfrm>
            <a:off x="4363720" y="3378835"/>
            <a:ext cx="3453130" cy="4197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zh-CN" altLang="en-US" b="1">
                <a:solidFill>
                  <a:srgbClr val="232D36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【波哥财道】投融决策驾驶舱</a:t>
            </a:r>
            <a:endParaRPr lang="zh-CN" altLang="en-US" b="1" i="0">
              <a:solidFill>
                <a:srgbClr val="232D3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charset="0"/>
              <a:ea typeface="汉仪力量黑简" charset="0"/>
              <a:sym typeface="+mn-ea"/>
            </a:endParaRPr>
          </a:p>
        </p:txBody>
      </p:sp>
      <p:sp>
        <p:nvSpPr>
          <p:cNvPr id="20" name="矩形 19" descr="7b0a2020202022776f7264617274223a2022220a7d0a"/>
          <p:cNvSpPr/>
          <p:nvPr/>
        </p:nvSpPr>
        <p:spPr>
          <a:xfrm>
            <a:off x="4363720" y="3804920"/>
            <a:ext cx="985520" cy="13696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eaVert" wrap="square" rtlCol="0" anchor="t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charset="0"/>
                <a:ea typeface="汉仪力量黑简" charset="0"/>
                <a:sym typeface="+mn-ea"/>
              </a:rPr>
              <a:t> </a:t>
            </a:r>
            <a:r>
              <a:rPr lang="zh-CN" altLang="en-US" sz="12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资产评估系统</a:t>
            </a:r>
            <a:endParaRPr lang="zh-CN" altLang="en-US" sz="12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200" b="1">
                <a:solidFill>
                  <a:srgbClr val="232D36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 (</a:t>
            </a:r>
            <a:r>
              <a:rPr lang="zh-CN" altLang="en-US" sz="1200" b="1">
                <a:solidFill>
                  <a:srgbClr val="232D36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内置</a:t>
            </a:r>
            <a:r>
              <a:rPr lang="en-US" altLang="zh-CN" sz="1200" b="1">
                <a:solidFill>
                  <a:srgbClr val="232D36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G.P.S.</a:t>
            </a:r>
            <a:r>
              <a:rPr lang="zh-CN" altLang="en-US" sz="1200" b="1">
                <a:solidFill>
                  <a:srgbClr val="232D36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分析法</a:t>
            </a:r>
            <a:r>
              <a:rPr lang="en-US" altLang="zh-CN" sz="1200" b="1">
                <a:solidFill>
                  <a:srgbClr val="232D36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 sz="1200" b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charset="0"/>
              <a:ea typeface="汉仪力量黑简" charset="0"/>
              <a:sym typeface="+mn-ea"/>
            </a:endParaRPr>
          </a:p>
        </p:txBody>
      </p:sp>
      <p:sp>
        <p:nvSpPr>
          <p:cNvPr id="22" name="矩形 21" descr="7b0a2020202022776f7264617274223a2022220a7d0a"/>
          <p:cNvSpPr/>
          <p:nvPr/>
        </p:nvSpPr>
        <p:spPr>
          <a:xfrm>
            <a:off x="6903085" y="3804920"/>
            <a:ext cx="645795" cy="13696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eaVert" wrap="square" rtlCol="0" anchor="t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融资规划系统</a:t>
            </a:r>
            <a:r>
              <a:rPr lang="en-US" altLang="zh-CN" sz="1200" b="1">
                <a:solidFill>
                  <a:srgbClr val="232D36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 (</a:t>
            </a:r>
            <a:r>
              <a:rPr lang="zh-CN" altLang="en-US" sz="1200" b="1">
                <a:solidFill>
                  <a:srgbClr val="232D36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内置</a:t>
            </a:r>
            <a:r>
              <a:rPr lang="en-US" altLang="zh-CN" sz="1200" b="1">
                <a:solidFill>
                  <a:srgbClr val="232D36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C.F.S.</a:t>
            </a:r>
            <a:r>
              <a:rPr lang="zh-CN" altLang="en-US" sz="1200" b="1">
                <a:solidFill>
                  <a:srgbClr val="232D36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评估法</a:t>
            </a:r>
            <a:r>
              <a:rPr lang="en-US" altLang="zh-CN" sz="1200" b="1">
                <a:solidFill>
                  <a:srgbClr val="232D36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 sz="1200" b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charset="0"/>
              <a:ea typeface="汉仪力量黑简" charset="0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343910" y="5217795"/>
            <a:ext cx="5503545" cy="36760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 descr="7b0a2020202022776f7264617274223a2022220a7d0a"/>
          <p:cNvSpPr/>
          <p:nvPr/>
        </p:nvSpPr>
        <p:spPr>
          <a:xfrm>
            <a:off x="6418580" y="5765800"/>
            <a:ext cx="2428875" cy="2914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charset="0"/>
                <a:ea typeface="汉仪力量黑简" charset="0"/>
                <a:sym typeface="+mn-ea"/>
              </a:rPr>
              <a:t> 房产与您的家庭匹配度评估</a:t>
            </a:r>
            <a:endParaRPr lang="zh-CN" altLang="en-US" sz="1400" b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charset="0"/>
              <a:ea typeface="汉仪力量黑简" charset="0"/>
              <a:sym typeface="+mn-ea"/>
            </a:endParaRPr>
          </a:p>
        </p:txBody>
      </p:sp>
      <p:sp>
        <p:nvSpPr>
          <p:cNvPr id="26" name="矩形 25" descr="7b0a2020202022776f7264617274223a2022220a7d0a"/>
          <p:cNvSpPr/>
          <p:nvPr/>
        </p:nvSpPr>
        <p:spPr>
          <a:xfrm>
            <a:off x="6560820" y="6946900"/>
            <a:ext cx="2183765" cy="2914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charset="0"/>
                <a:ea typeface="汉仪力量黑简" charset="0"/>
                <a:sym typeface="+mn-ea"/>
              </a:rPr>
              <a:t> 房产价值增长潜力评估</a:t>
            </a:r>
            <a:endParaRPr lang="zh-CN" altLang="en-US" sz="1400" b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charset="0"/>
              <a:ea typeface="汉仪力量黑简" charset="0"/>
              <a:sym typeface="+mn-ea"/>
            </a:endParaRPr>
          </a:p>
        </p:txBody>
      </p:sp>
      <p:sp>
        <p:nvSpPr>
          <p:cNvPr id="27" name="矩形 26" descr="7b0a2020202022776f7264617274223a2022220a7d0a"/>
          <p:cNvSpPr/>
          <p:nvPr/>
        </p:nvSpPr>
        <p:spPr>
          <a:xfrm>
            <a:off x="6560820" y="6356350"/>
            <a:ext cx="2183765" cy="2914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charset="0"/>
                <a:ea typeface="汉仪力量黑简" charset="0"/>
                <a:sym typeface="+mn-ea"/>
              </a:rPr>
              <a:t> 房产品质与硬实力评估</a:t>
            </a:r>
            <a:endParaRPr lang="zh-CN" altLang="en-US" sz="1400" b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charset="0"/>
              <a:ea typeface="汉仪力量黑简" charset="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554095" y="7809865"/>
            <a:ext cx="2090420" cy="82994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232D36"/>
                </a:solidFill>
                <a:latin typeface="PingFang SC"/>
                <a:ea typeface="PingFang SC"/>
              </a:rPr>
              <a:t>个人信用状况诊断</a:t>
            </a:r>
            <a:endParaRPr lang="zh-CN" altLang="en-US" sz="1600" b="0" i="0">
              <a:solidFill>
                <a:srgbClr val="232D36"/>
              </a:solidFill>
              <a:latin typeface="PingFang SC"/>
              <a:ea typeface="PingFang SC"/>
            </a:endParaRPr>
          </a:p>
          <a:p>
            <a:pPr marL="0" indent="0"/>
            <a:r>
              <a:rPr lang="zh-CN" altLang="en-US" sz="1600" b="0" i="0">
                <a:solidFill>
                  <a:srgbClr val="232D36"/>
                </a:solidFill>
                <a:latin typeface="PingFang SC"/>
                <a:ea typeface="PingFang SC"/>
              </a:rPr>
              <a:t>财务状况</a:t>
            </a:r>
            <a:r>
              <a:rPr lang="en-US" altLang="zh-CN" sz="1600" b="0" i="0">
                <a:solidFill>
                  <a:srgbClr val="232D36"/>
                </a:solidFill>
                <a:latin typeface="PingFang SC"/>
                <a:ea typeface="PingFang SC"/>
              </a:rPr>
              <a:t>/</a:t>
            </a:r>
            <a:r>
              <a:rPr lang="zh-CN" altLang="en-US" sz="1600" b="0" i="0">
                <a:solidFill>
                  <a:srgbClr val="232D36"/>
                </a:solidFill>
                <a:latin typeface="PingFang SC"/>
                <a:ea typeface="PingFang SC"/>
              </a:rPr>
              <a:t>流水审核</a:t>
            </a:r>
            <a:endParaRPr lang="zh-CN" altLang="en-US" sz="1600" b="0" i="0">
              <a:solidFill>
                <a:srgbClr val="232D36"/>
              </a:solidFill>
              <a:latin typeface="PingFang SC"/>
              <a:ea typeface="PingFang SC"/>
            </a:endParaRPr>
          </a:p>
          <a:p>
            <a:pPr marL="0" indent="0"/>
            <a:r>
              <a:rPr lang="zh-CN" altLang="en-US" sz="1600" b="0" i="0">
                <a:solidFill>
                  <a:srgbClr val="232D36"/>
                </a:solidFill>
                <a:latin typeface="PingFang SC"/>
                <a:ea typeface="PingFang SC"/>
              </a:rPr>
              <a:t>债务结构分析</a:t>
            </a:r>
            <a:endParaRPr lang="zh-CN" altLang="en-US" sz="1600" b="0" i="0">
              <a:solidFill>
                <a:srgbClr val="232D36"/>
              </a:solidFill>
              <a:latin typeface="PingFang SC"/>
              <a:ea typeface="PingFang SC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554095" y="6858000"/>
            <a:ext cx="2090420" cy="82994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232D36"/>
                </a:solidFill>
                <a:latin typeface="PingFang SC"/>
                <a:ea typeface="PingFang SC"/>
              </a:rPr>
              <a:t>征信优化方案</a:t>
            </a:r>
            <a:endParaRPr lang="zh-CN" altLang="en-US" sz="1600" b="0" i="0">
              <a:solidFill>
                <a:srgbClr val="232D36"/>
              </a:solidFill>
              <a:latin typeface="PingFang SC"/>
              <a:ea typeface="PingFang SC"/>
            </a:endParaRPr>
          </a:p>
          <a:p>
            <a:pPr marL="0" indent="0"/>
            <a:r>
              <a:rPr lang="zh-CN" altLang="en-US" sz="1600" b="0" i="0">
                <a:solidFill>
                  <a:srgbClr val="232D36"/>
                </a:solidFill>
                <a:latin typeface="PingFang SC"/>
                <a:ea typeface="PingFang SC"/>
              </a:rPr>
              <a:t>债务优化方案</a:t>
            </a:r>
            <a:endParaRPr lang="zh-CN" altLang="en-US" sz="1600" b="0" i="0">
              <a:solidFill>
                <a:srgbClr val="232D36"/>
              </a:solidFill>
              <a:latin typeface="PingFang SC"/>
              <a:ea typeface="PingFang SC"/>
            </a:endParaRPr>
          </a:p>
          <a:p>
            <a:pPr marL="0" indent="0"/>
            <a:r>
              <a:rPr lang="zh-CN" altLang="en-US" sz="1600" b="0" i="0">
                <a:solidFill>
                  <a:srgbClr val="232D36"/>
                </a:solidFill>
                <a:latin typeface="PingFang SC"/>
                <a:ea typeface="PingFang SC"/>
              </a:rPr>
              <a:t>流水优化规划</a:t>
            </a:r>
            <a:endParaRPr lang="zh-CN" altLang="en-US" sz="1600" b="0" i="0">
              <a:solidFill>
                <a:srgbClr val="232D36"/>
              </a:solidFill>
              <a:latin typeface="PingFang SC"/>
              <a:ea typeface="PingFang SC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554095" y="5401310"/>
            <a:ext cx="2865120" cy="107632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232D36"/>
                </a:solidFill>
                <a:latin typeface="PingFang SC"/>
                <a:ea typeface="PingFang SC"/>
              </a:rPr>
              <a:t>最优融资策略</a:t>
            </a:r>
            <a:endParaRPr lang="zh-CN" altLang="en-US" sz="1600" b="0" i="0">
              <a:solidFill>
                <a:srgbClr val="232D36"/>
              </a:solidFill>
              <a:latin typeface="PingFang SC"/>
              <a:ea typeface="PingFang SC"/>
            </a:endParaRPr>
          </a:p>
          <a:p>
            <a:pPr marL="0" indent="0"/>
            <a:r>
              <a:rPr lang="en-US" altLang="zh-CN" sz="1600" b="0" i="0">
                <a:solidFill>
                  <a:srgbClr val="232D36"/>
                </a:solidFill>
                <a:latin typeface="PingFang SC"/>
                <a:ea typeface="PingFang SC"/>
              </a:rPr>
              <a:t>- </a:t>
            </a:r>
            <a:r>
              <a:rPr lang="zh-CN" altLang="en-US" sz="1600" b="0" i="0">
                <a:solidFill>
                  <a:srgbClr val="232D36"/>
                </a:solidFill>
                <a:latin typeface="PingFang SC"/>
                <a:ea typeface="PingFang SC"/>
              </a:rPr>
              <a:t>银行匹配矩阵</a:t>
            </a:r>
            <a:r>
              <a:rPr lang="en-US" altLang="zh-CN" sz="1600" b="0" i="0">
                <a:solidFill>
                  <a:srgbClr val="232D36"/>
                </a:solidFill>
                <a:latin typeface="PingFang SC"/>
                <a:ea typeface="PingFang SC"/>
              </a:rPr>
              <a:t> (</a:t>
            </a:r>
            <a:r>
              <a:rPr lang="zh-CN" altLang="en-US" sz="1600" b="0" i="0">
                <a:solidFill>
                  <a:srgbClr val="232D36"/>
                </a:solidFill>
                <a:latin typeface="PingFang SC"/>
                <a:ea typeface="PingFang SC"/>
              </a:rPr>
              <a:t>择木而栖</a:t>
            </a:r>
            <a:r>
              <a:rPr lang="en-US" altLang="zh-CN" sz="1600" b="0" i="0">
                <a:solidFill>
                  <a:srgbClr val="232D36"/>
                </a:solidFill>
                <a:latin typeface="PingFang SC"/>
                <a:ea typeface="PingFang SC"/>
              </a:rPr>
              <a:t>)</a:t>
            </a:r>
            <a:endParaRPr lang="en-US" altLang="zh-CN" sz="1600" b="0" i="0">
              <a:solidFill>
                <a:srgbClr val="232D36"/>
              </a:solidFill>
              <a:latin typeface="PingFang SC"/>
              <a:ea typeface="PingFang SC"/>
            </a:endParaRPr>
          </a:p>
          <a:p>
            <a:pPr marL="0" indent="0"/>
            <a:r>
              <a:rPr lang="en-US" altLang="zh-CN" sz="1600" b="0" i="0">
                <a:solidFill>
                  <a:srgbClr val="232D36"/>
                </a:solidFill>
                <a:latin typeface="PingFang SC"/>
                <a:ea typeface="PingFang SC"/>
              </a:rPr>
              <a:t>- </a:t>
            </a:r>
            <a:r>
              <a:rPr lang="zh-CN" altLang="en-US" sz="1600" b="0" i="0">
                <a:solidFill>
                  <a:srgbClr val="232D36"/>
                </a:solidFill>
                <a:latin typeface="PingFang SC"/>
                <a:ea typeface="PingFang SC"/>
              </a:rPr>
              <a:t>审批概率模拟</a:t>
            </a:r>
            <a:r>
              <a:rPr lang="en-US" altLang="zh-CN" sz="1600" b="0" i="0">
                <a:solidFill>
                  <a:srgbClr val="232D36"/>
                </a:solidFill>
                <a:latin typeface="PingFang SC"/>
                <a:ea typeface="PingFang SC"/>
              </a:rPr>
              <a:t> (</a:t>
            </a:r>
            <a:r>
              <a:rPr lang="zh-CN" altLang="en-US" sz="1600" b="0" i="0">
                <a:solidFill>
                  <a:srgbClr val="232D36"/>
                </a:solidFill>
                <a:latin typeface="PingFang SC"/>
                <a:ea typeface="PingFang SC"/>
              </a:rPr>
              <a:t>胜算几何</a:t>
            </a:r>
            <a:r>
              <a:rPr lang="en-US" altLang="zh-CN" sz="1600" b="0" i="0">
                <a:solidFill>
                  <a:srgbClr val="232D36"/>
                </a:solidFill>
                <a:latin typeface="PingFang SC"/>
                <a:ea typeface="PingFang SC"/>
              </a:rPr>
              <a:t>)</a:t>
            </a:r>
            <a:endParaRPr lang="en-US" altLang="zh-CN" sz="1600" b="0" i="0">
              <a:solidFill>
                <a:srgbClr val="232D36"/>
              </a:solidFill>
              <a:latin typeface="PingFang SC"/>
              <a:ea typeface="PingFang SC"/>
            </a:endParaRPr>
          </a:p>
          <a:p>
            <a:pPr marL="0" indent="0"/>
            <a:r>
              <a:rPr lang="en-US" altLang="zh-CN" sz="1600" b="0" i="0">
                <a:solidFill>
                  <a:srgbClr val="232D36"/>
                </a:solidFill>
                <a:latin typeface="PingFang SC"/>
                <a:ea typeface="PingFang SC"/>
              </a:rPr>
              <a:t>- </a:t>
            </a:r>
            <a:r>
              <a:rPr lang="zh-CN" altLang="en-US" sz="1600" b="0" i="0">
                <a:solidFill>
                  <a:srgbClr val="232D36"/>
                </a:solidFill>
                <a:latin typeface="PingFang SC"/>
                <a:ea typeface="PingFang SC"/>
              </a:rPr>
              <a:t>终极额度预测</a:t>
            </a:r>
            <a:r>
              <a:rPr lang="en-US" altLang="zh-CN" sz="1600" b="0" i="0">
                <a:solidFill>
                  <a:srgbClr val="232D36"/>
                </a:solidFill>
                <a:latin typeface="PingFang SC"/>
                <a:ea typeface="PingFang SC"/>
              </a:rPr>
              <a:t> (</a:t>
            </a:r>
            <a:r>
              <a:rPr lang="zh-CN" altLang="en-US" sz="1600" b="0" i="0">
                <a:solidFill>
                  <a:srgbClr val="232D36"/>
                </a:solidFill>
                <a:latin typeface="PingFang SC"/>
                <a:ea typeface="PingFang SC"/>
              </a:rPr>
              <a:t>所得几何</a:t>
            </a:r>
            <a:r>
              <a:rPr lang="en-US" altLang="zh-CN" sz="1600" b="0" i="0">
                <a:solidFill>
                  <a:srgbClr val="232D36"/>
                </a:solidFill>
                <a:latin typeface="PingFang SC"/>
                <a:ea typeface="PingFang SC"/>
              </a:rPr>
              <a:t>)</a:t>
            </a:r>
            <a:endParaRPr lang="en-US" altLang="zh-CN" sz="1600" b="0" i="0">
              <a:solidFill>
                <a:srgbClr val="232D36"/>
              </a:solidFill>
              <a:latin typeface="PingFang SC"/>
              <a:ea typeface="PingFang SC"/>
            </a:endParaRPr>
          </a:p>
        </p:txBody>
      </p:sp>
      <p:sp>
        <p:nvSpPr>
          <p:cNvPr id="31" name="矩形 30" descr="7b0a2020202022776f7264617274223a2022220a7d0a"/>
          <p:cNvSpPr/>
          <p:nvPr/>
        </p:nvSpPr>
        <p:spPr>
          <a:xfrm>
            <a:off x="1350010" y="6228080"/>
            <a:ext cx="1887855" cy="4197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zh-CN" altLang="en-US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charset="0"/>
                <a:ea typeface="汉仪力量黑简" charset="0"/>
                <a:sym typeface="+mn-ea"/>
              </a:rPr>
              <a:t> </a:t>
            </a:r>
            <a:r>
              <a:rPr lang="zh-CN" altLang="en-US" b="1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力量黑简" charset="0"/>
                <a:ea typeface="汉仪力量黑简" charset="0"/>
                <a:sym typeface="+mn-ea"/>
              </a:rPr>
              <a:t>地基</a:t>
            </a:r>
            <a:endParaRPr lang="zh-CN" altLang="en-US" b="1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汉仪力量黑简" charset="0"/>
              <a:ea typeface="汉仪力量黑简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695960" y="1440000"/>
            <a:ext cx="10800080" cy="4932000"/>
          </a:xfrm>
          <a:prstGeom prst="rect">
            <a:avLst/>
          </a:prstGeom>
          <a:gradFill>
            <a:gsLst>
              <a:gs pos="0">
                <a:schemeClr val="accent1">
                  <a:alpha val="5000"/>
                </a:schemeClr>
              </a:gs>
              <a:gs pos="10000">
                <a:schemeClr val="accent1">
                  <a:lumMod val="45000"/>
                  <a:lumOff val="55000"/>
                  <a:alpha val="0"/>
                </a:schemeClr>
              </a:gs>
              <a:gs pos="86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5000"/>
                </a:schemeClr>
              </a:gs>
            </a:gsLst>
            <a:lin ang="0" scaled="0"/>
          </a:gradFill>
          <a:ln w="22225">
            <a:gradFill>
              <a:gsLst>
                <a:gs pos="100000">
                  <a:schemeClr val="accent1">
                    <a:alpha val="40000"/>
                  </a:schemeClr>
                </a:gs>
                <a:gs pos="27000">
                  <a:schemeClr val="accent1">
                    <a:lumMod val="20000"/>
                    <a:lumOff val="80000"/>
                    <a:alpha val="0"/>
                  </a:schemeClr>
                </a:gs>
                <a:gs pos="73000">
                  <a:schemeClr val="accent1">
                    <a:lumMod val="20000"/>
                    <a:lumOff val="80000"/>
                    <a:alpha val="0"/>
                  </a:schemeClr>
                </a:gs>
                <a:gs pos="0">
                  <a:schemeClr val="accent1">
                    <a:alpha val="40000"/>
                  </a:schemeClr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solidFill>
                <a:schemeClr val="accen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资产评估系统（三角形图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表达）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任意多边形: 形状 14"/>
          <p:cNvSpPr/>
          <p:nvPr>
            <p:custDataLst>
              <p:tags r:id="rId3"/>
            </p:custDataLst>
          </p:nvPr>
        </p:nvSpPr>
        <p:spPr>
          <a:xfrm>
            <a:off x="650074" y="6080227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18900000" algn="b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14"/>
          <p:cNvSpPr/>
          <p:nvPr>
            <p:custDataLst>
              <p:tags r:id="rId4"/>
            </p:custDataLst>
          </p:nvPr>
        </p:nvSpPr>
        <p:spPr>
          <a:xfrm rot="5400000">
            <a:off x="650074" y="1393292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14"/>
          <p:cNvSpPr/>
          <p:nvPr>
            <p:custDataLst>
              <p:tags r:id="rId5"/>
            </p:custDataLst>
          </p:nvPr>
        </p:nvSpPr>
        <p:spPr>
          <a:xfrm flipH="1">
            <a:off x="11196789" y="6080862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13500000" algn="b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14"/>
          <p:cNvSpPr/>
          <p:nvPr>
            <p:custDataLst>
              <p:tags r:id="rId6"/>
            </p:custDataLst>
          </p:nvPr>
        </p:nvSpPr>
        <p:spPr>
          <a:xfrm rot="16200000" flipH="1">
            <a:off x="11196789" y="1393927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3"/>
          <p:cNvGraphicFramePr/>
          <p:nvPr/>
        </p:nvGraphicFramePr>
        <p:xfrm>
          <a:off x="1002030" y="1732915"/>
          <a:ext cx="10194925" cy="433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250"/>
                <a:gridCol w="1201420"/>
                <a:gridCol w="3394075"/>
                <a:gridCol w="3472180"/>
              </a:tblGrid>
              <a:tr h="61849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评估维度</a:t>
                      </a:r>
                      <a:endParaRPr lang="en-US" altLang="zh-CN" sz="1400" b="1" spc="12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哲学映射</a:t>
                      </a:r>
                      <a:endParaRPr lang="zh-CN" altLang="en-US" sz="1400" b="1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模块名称</a:t>
                      </a:r>
                      <a:endParaRPr lang="en-US" altLang="zh-CN" sz="1400" b="1" spc="12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模块核心内容</a:t>
                      </a:r>
                      <a:r>
                        <a:rPr lang="en-US" altLang="zh-CN" sz="1400" b="1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(</a:t>
                      </a:r>
                      <a:r>
                        <a:rPr lang="zh-CN" altLang="en-US" sz="1400" b="1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评估细项</a:t>
                      </a:r>
                      <a:r>
                        <a:rPr lang="en-US" altLang="zh-CN" sz="1400" b="1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1400" b="1" spc="12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107950" marB="107950" anchor="ctr" anchorCtr="0"/>
                </a:tc>
              </a:tr>
              <a:tr h="143129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房产价值增长潜力评估</a:t>
                      </a:r>
                      <a:endParaRPr lang="zh-CN" altLang="en-US" sz="1200" b="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天时</a:t>
                      </a:r>
                      <a:endParaRPr lang="zh-CN" altLang="en-US" sz="1200" b="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 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【天时推演】：价值引爆点评估</a:t>
                      </a:r>
                      <a:endParaRPr lang="zh-CN" altLang="en-US" sz="1200" b="0" spc="12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宏观周期 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经济与政策走向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b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城市脉络 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发展规划与能级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b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板块势能 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人口、产业、基建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1200" b="0" spc="12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区位禀赋 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地段、交通、配套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1200" b="0" spc="12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107950" marB="107950" anchor="ctr" anchorCtr="0"/>
                </a:tc>
              </a:tr>
              <a:tr h="114427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房产品质与硬实力评估</a:t>
                      </a:r>
                      <a:endParaRPr lang="zh-CN" altLang="en-US" sz="1200" b="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地利</a:t>
                      </a:r>
                      <a:endParaRPr lang="zh-CN" altLang="en-US" sz="1200" b="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 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【地利勘察】：资产硬实力评估</a:t>
                      </a:r>
                      <a:endParaRPr lang="zh-CN" altLang="en-US" sz="1200" b="0" spc="12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产品品相 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品牌、户型、品质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b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稀缺指数 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景观、学区、不可复制性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1200" b="0" spc="12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107950" marB="107950" anchor="ctr" anchorCtr="0"/>
                </a:tc>
              </a:tr>
              <a:tr h="114427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altLang="en-US" sz="1200" spc="12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房产与您的家庭匹配度评估</a:t>
                      </a:r>
                      <a:endParaRPr lang="zh-CN" altLang="en-US" sz="1200" b="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人和</a:t>
                      </a:r>
                      <a:endParaRPr lang="zh-CN" altLang="en-US" sz="1200" b="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 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【人和匹配】：人与资产契合度评估</a:t>
                      </a:r>
                      <a:endParaRPr lang="zh-CN" altLang="en-US" sz="1200" b="0" spc="12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财富目标 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投资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自住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短期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b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生命周期 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单身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夫妻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育儿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养老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b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现金流适配 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月供压力与生活品质</a:t>
                      </a:r>
                      <a:r>
                        <a:rPr lang="en-US" altLang="zh-CN" sz="1200" b="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1200" b="0" spc="12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107950" marB="107950" anchor="ctr" anchorCtr="0"/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695960" y="1440000"/>
            <a:ext cx="10800080" cy="4932000"/>
          </a:xfrm>
          <a:prstGeom prst="rect">
            <a:avLst/>
          </a:prstGeom>
          <a:gradFill>
            <a:gsLst>
              <a:gs pos="0">
                <a:schemeClr val="accent1">
                  <a:alpha val="5000"/>
                </a:schemeClr>
              </a:gs>
              <a:gs pos="10000">
                <a:schemeClr val="accent1">
                  <a:lumMod val="45000"/>
                  <a:lumOff val="55000"/>
                  <a:alpha val="0"/>
                </a:schemeClr>
              </a:gs>
              <a:gs pos="86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5000"/>
                </a:schemeClr>
              </a:gs>
            </a:gsLst>
            <a:lin ang="0" scaled="0"/>
          </a:gradFill>
          <a:ln w="22225">
            <a:gradFill>
              <a:gsLst>
                <a:gs pos="100000">
                  <a:schemeClr val="accent1">
                    <a:alpha val="40000"/>
                  </a:schemeClr>
                </a:gs>
                <a:gs pos="27000">
                  <a:schemeClr val="accent1">
                    <a:lumMod val="20000"/>
                    <a:lumOff val="80000"/>
                    <a:alpha val="0"/>
                  </a:schemeClr>
                </a:gs>
                <a:gs pos="73000">
                  <a:schemeClr val="accent1">
                    <a:lumMod val="20000"/>
                    <a:lumOff val="80000"/>
                    <a:alpha val="0"/>
                  </a:schemeClr>
                </a:gs>
                <a:gs pos="0">
                  <a:schemeClr val="accent1">
                    <a:alpha val="40000"/>
                  </a:schemeClr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solidFill>
                <a:schemeClr val="accen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融资规划系统（转换为金字塔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图）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任意多边形: 形状 14"/>
          <p:cNvSpPr/>
          <p:nvPr>
            <p:custDataLst>
              <p:tags r:id="rId3"/>
            </p:custDataLst>
          </p:nvPr>
        </p:nvSpPr>
        <p:spPr>
          <a:xfrm>
            <a:off x="650074" y="6080227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18900000" algn="b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14"/>
          <p:cNvSpPr/>
          <p:nvPr>
            <p:custDataLst>
              <p:tags r:id="rId4"/>
            </p:custDataLst>
          </p:nvPr>
        </p:nvSpPr>
        <p:spPr>
          <a:xfrm rot="5400000">
            <a:off x="650074" y="1393292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14"/>
          <p:cNvSpPr/>
          <p:nvPr>
            <p:custDataLst>
              <p:tags r:id="rId5"/>
            </p:custDataLst>
          </p:nvPr>
        </p:nvSpPr>
        <p:spPr>
          <a:xfrm flipH="1">
            <a:off x="11196789" y="6080862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13500000" algn="b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14"/>
          <p:cNvSpPr/>
          <p:nvPr>
            <p:custDataLst>
              <p:tags r:id="rId6"/>
            </p:custDataLst>
          </p:nvPr>
        </p:nvSpPr>
        <p:spPr>
          <a:xfrm rot="16200000" flipH="1">
            <a:off x="11196789" y="1393927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7"/>
            </p:custDataLst>
          </p:nvPr>
        </p:nvGraphicFramePr>
        <p:xfrm>
          <a:off x="1002030" y="1732915"/>
          <a:ext cx="10194925" cy="4347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695"/>
                <a:gridCol w="5324475"/>
                <a:gridCol w="3500755"/>
              </a:tblGrid>
              <a:tr h="44005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服务阶段</a:t>
                      </a:r>
                      <a:endParaRPr lang="zh-CN" altLang="en-US" sz="1300" b="1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模块名称</a:t>
                      </a:r>
                      <a:r>
                        <a:rPr lang="en-US" altLang="zh-CN" sz="1300" b="1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endParaRPr lang="en-US" altLang="zh-CN" sz="1300" b="1" spc="12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300" b="1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对客户的价值</a:t>
                      </a:r>
                      <a:endParaRPr lang="zh-CN" altLang="en-US" sz="1300" b="1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1302385"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第一阶段：</a:t>
                      </a:r>
                      <a:b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财务透视</a:t>
                      </a:r>
                      <a:endParaRPr lang="zh-CN" altLang="en-US" sz="11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 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【三元法门】联合诊断报告</a:t>
                      </a:r>
                      <a:b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财信之本：信用声望透视（</a:t>
                      </a:r>
                      <a:r>
                        <a:rPr lang="zh-CN" altLang="en-US" sz="110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个人信用状况诊断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b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现金之脉：流水脉搏听诊</a:t>
                      </a:r>
                      <a:r>
                        <a:rPr lang="zh-CN" altLang="en-US" sz="110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（财务状况</a:t>
                      </a:r>
                      <a:r>
                        <a:rPr lang="en-US" altLang="zh-CN" sz="110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zh-CN" altLang="en-US" sz="110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流水审核）</a:t>
                      </a:r>
                      <a:b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负债之骨：债务骨架扫描</a:t>
                      </a:r>
                      <a:r>
                        <a:rPr lang="zh-CN" altLang="en-US" sz="110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（</a:t>
                      </a:r>
                      <a:r>
                        <a:rPr lang="zh-CN" altLang="en-US" sz="110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债务结构分析</a:t>
                      </a:r>
                      <a:r>
                        <a:rPr lang="zh-CN" altLang="en-US" sz="110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）</a:t>
                      </a:r>
                      <a:endParaRPr lang="zh-CN" altLang="en-US" sz="11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您将得到一份前所未有的深度“财务</a:t>
                      </a: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CT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报告”，清晰看到您在金融机构眼中的“信誉分”、“活力分”和“健康分”。</a:t>
                      </a:r>
                      <a:endParaRPr lang="zh-CN" altLang="en-US" sz="11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1303020"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第二阶段：</a:t>
                      </a:r>
                      <a:b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结构重塑</a:t>
                      </a:r>
                      <a:endParaRPr lang="zh-CN" altLang="en-US" sz="11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 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【对症良方】三大优化策略</a:t>
                      </a:r>
                      <a:b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财信净化方案 </a:t>
                      </a: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养望策略</a:t>
                      </a: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)(</a:t>
                      </a:r>
                      <a:r>
                        <a:rPr lang="zh-CN" altLang="en-US" sz="110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征信优化方案</a:t>
                      </a: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b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现金增益方案 </a:t>
                      </a: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强脉策略</a:t>
                      </a: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r>
                        <a:rPr lang="en-US" altLang="zh-CN" sz="110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zh-CN" altLang="en-US" sz="110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债务优化方案</a:t>
                      </a:r>
                      <a:r>
                        <a:rPr lang="en-US" altLang="zh-CN" sz="110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)</a:t>
                      </a:r>
                      <a:b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债务正骨方案 </a:t>
                      </a: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重塑策略</a:t>
                      </a: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r>
                        <a:rPr lang="en-US" altLang="zh-CN" sz="110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zh-CN" altLang="en-US" sz="110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流水优化规划</a:t>
                      </a:r>
                      <a:r>
                        <a:rPr lang="en-US" altLang="zh-CN" sz="110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)</a:t>
                      </a:r>
                      <a:endParaRPr lang="en-US" altLang="zh-CN" sz="11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我们不只发现问题，更提供三套具体的行动锦囊，告诉您如何“养信用”、“养流水”、“降成本”，彻底重塑您的财务健康。</a:t>
                      </a:r>
                      <a:endParaRPr lang="zh-CN" altLang="en-US" sz="11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1302385"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第三阶段：</a:t>
                      </a:r>
                      <a:b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策略推演</a:t>
                      </a:r>
                      <a:endParaRPr lang="zh-CN" altLang="en-US" sz="11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 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【乾坤推演】最优融资策略</a:t>
                      </a:r>
                      <a:b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银行匹配矩阵 </a:t>
                      </a: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择木而栖</a:t>
                      </a: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b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审批概率模拟 </a:t>
                      </a: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胜算几何</a:t>
                      </a: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b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</a:b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 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终极额度预测 </a:t>
                      </a: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所得几何</a:t>
                      </a:r>
                      <a:r>
                        <a:rPr lang="en-US" altLang="zh-CN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11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spc="6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这不是一个数字，而是一份“作战地图”。我们将为您匹配最合适的银行“盟友”，模拟审批的成功率，并精准预测您能拿到的最终“军备”（额度）。</a:t>
                      </a:r>
                      <a:endParaRPr lang="zh-CN" altLang="en-US" sz="1100" b="0" spc="6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</a:tbl>
          </a:graphicData>
        </a:graphic>
      </p:graphicFrame>
    </p:spTree>
    <p:custDataLst>
      <p:tags r:id="rId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2&quot;:[25001070,25004300],&quot;65&quot;:[20205081]}"/>
</p:tagLst>
</file>

<file path=ppt/tags/tag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5029_1*i*1"/>
  <p:tag name="KSO_WM_TEMPLATE_CATEGORY" val="custom"/>
  <p:tag name="KSO_WM_TEMPLATE_INDEX" val="20235029"/>
  <p:tag name="KSO_WM_UNIT_LAYERLEVEL" val="1"/>
  <p:tag name="KSO_WM_TAG_VERSION" val="3.0"/>
  <p:tag name="KSO_WM_UNIT_TYPE" val="i"/>
  <p:tag name="KSO_WM_UNIT_INDEX" val="1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29_1*a*1"/>
  <p:tag name="KSO_WM_TEMPLATE_CATEGORY" val="custom"/>
  <p:tag name="KSO_WM_TEMPLATE_INDEX" val="202350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029_1*i*2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5029_1*i*3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5029_1*i*4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5029_1*i*5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SLIDE_ID" val="custom2023502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29"/>
  <p:tag name="KSO_WM_SLIDE_LAYOUT" val="a_β"/>
  <p:tag name="KSO_WM_SLIDE_LAYOUT_CNT" val="1_1"/>
  <p:tag name="KSO_WM_SLIDE_SIZE" val="857*477"/>
  <p:tag name="KSO_WM_SLIDE_POSITION" val="51*28"/>
</p:tagLst>
</file>

<file path=ppt/tags/tag7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5029_1*i*1"/>
  <p:tag name="KSO_WM_TEMPLATE_CATEGORY" val="custom"/>
  <p:tag name="KSO_WM_TEMPLATE_INDEX" val="20235029"/>
  <p:tag name="KSO_WM_UNIT_LAYERLEVEL" val="1"/>
  <p:tag name="KSO_WM_TAG_VERSION" val="3.0"/>
  <p:tag name="KSO_WM_UNIT_TYPE" val="i"/>
  <p:tag name="KSO_WM_UNIT_INDEX" val="1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29_1*a*1"/>
  <p:tag name="KSO_WM_TEMPLATE_CATEGORY" val="custom"/>
  <p:tag name="KSO_WM_TEMPLATE_INDEX" val="202350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029_1*i*2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5029_1*i*3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5029_1*i*4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5029_1*i*5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TABLE_ENDDRAG_ORIGIN_RECT" val="802*342"/>
  <p:tag name="TABLE_ENDDRAG_RECT" val="78*136*802*342"/>
</p:tagLst>
</file>

<file path=ppt/tags/tag81.xml><?xml version="1.0" encoding="utf-8"?>
<p:tagLst xmlns:p="http://schemas.openxmlformats.org/presentationml/2006/main">
  <p:tag name="KSO_WM_SLIDE_ID" val="custom2023502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29"/>
  <p:tag name="KSO_WM_SLIDE_LAYOUT" val="a_β"/>
  <p:tag name="KSO_WM_SLIDE_LAYOUT_CNT" val="1_1"/>
  <p:tag name="KSO_WM_SLIDE_SIZE" val="857*477"/>
  <p:tag name="KSO_WM_SLIDE_POSITION" val="51*28"/>
</p:tagLst>
</file>

<file path=ppt/tags/tag82.xml><?xml version="1.0" encoding="utf-8"?>
<p:tagLst xmlns:p="http://schemas.openxmlformats.org/presentationml/2006/main">
  <p:tag name="resource_record_key" val="{&quot;12&quot;:[25001070,25004300],&quot;29&quot;:[50053044,50053024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998</Words>
  <Application>WPS 演示</Application>
  <PresentationFormat>宽屏</PresentationFormat>
  <Paragraphs>111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Symbol</vt:lpstr>
      <vt:lpstr>Segoe UI</vt:lpstr>
      <vt:lpstr>Calibri</vt:lpstr>
      <vt:lpstr>汉仪力量黑简</vt:lpstr>
      <vt:lpstr>黑体</vt:lpstr>
      <vt:lpstr>汉仪超粗宋简</vt:lpstr>
      <vt:lpstr>PingFang SC</vt:lpstr>
      <vt:lpstr>Segoe Print</vt:lpstr>
      <vt:lpstr>WPS</vt:lpstr>
      <vt:lpstr>PowerPoint 演示文稿</vt:lpstr>
      <vt:lpstr>PowerPoint 演示文稿</vt:lpstr>
      <vt:lpstr>单击此处添加标题</vt:lpstr>
      <vt:lpstr>单击此处添加标题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芳芳&amp;</cp:lastModifiedBy>
  <cp:revision>160</cp:revision>
  <dcterms:created xsi:type="dcterms:W3CDTF">2019-06-19T02:08:00Z</dcterms:created>
  <dcterms:modified xsi:type="dcterms:W3CDTF">2025-11-03T00:20:43Z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C060F617897E4370866FA59513CBBD2F_11</vt:lpwstr>
  </property>
</Properties>
</file>